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7" r:id="rId3"/>
    <p:sldId id="257" r:id="rId4"/>
    <p:sldId id="256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91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12"/>
          </a:solidFill>
          <a:ln w="12700">
            <a:miter lim="400000"/>
          </a:ln>
        </p:spPr>
        <p:txBody>
          <a:bodyPr lIns="28574" rIns="28574"/>
          <a:lstStyle/>
          <a:p>
            <a:endParaRPr sz="1125"/>
          </a:p>
        </p:txBody>
      </p:sp>
      <p:sp>
        <p:nvSpPr>
          <p:cNvPr id="1048580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C1D1F"/>
          </a:solidFill>
          <a:ln w="12700">
            <a:miter lim="400000"/>
          </a:ln>
        </p:spPr>
        <p:txBody>
          <a:bodyPr lIns="28574" rIns="28574"/>
          <a:lstStyle/>
          <a:p>
            <a:endParaRPr sz="1125"/>
          </a:p>
        </p:txBody>
      </p:sp>
      <p:sp>
        <p:nvSpPr>
          <p:cNvPr id="10485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832478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3981" y="5758661"/>
            <a:ext cx="46506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CPU Scheduling</a:t>
            </a:r>
            <a:endParaRPr lang="en-U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85930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Group Information :"/>
          <p:cNvSpPr txBox="1"/>
          <p:nvPr/>
        </p:nvSpPr>
        <p:spPr>
          <a:xfrm>
            <a:off x="637402" y="1277183"/>
            <a:ext cx="3371883" cy="573234"/>
          </a:xfrm>
          <a:prstGeom prst="rect">
            <a:avLst/>
          </a:prstGeom>
          <a:ln w="12700">
            <a:miter lim="400000"/>
          </a:ln>
        </p:spPr>
        <p:txBody>
          <a:bodyPr wrap="none" lIns="28574" rIns="28574">
            <a:spAutoFit/>
          </a:bodyPr>
          <a:lstStyle>
            <a:lvl1pPr>
              <a:defRPr sz="5000" b="1">
                <a:solidFill>
                  <a:srgbClr val="FFFFFF"/>
                </a:solidFill>
              </a:defRPr>
            </a:lvl1pPr>
          </a:lstStyle>
          <a:p>
            <a:r>
              <a:rPr sz="3125"/>
              <a:t>Group Information :</a:t>
            </a:r>
          </a:p>
        </p:txBody>
      </p:sp>
      <p:sp>
        <p:nvSpPr>
          <p:cNvPr id="1048585" name="Name :                ID :…"/>
          <p:cNvSpPr txBox="1"/>
          <p:nvPr/>
        </p:nvSpPr>
        <p:spPr>
          <a:xfrm>
            <a:off x="818605" y="2560551"/>
            <a:ext cx="7550332" cy="2446824"/>
          </a:xfrm>
          <a:prstGeom prst="rect">
            <a:avLst/>
          </a:prstGeom>
          <a:ln w="12700">
            <a:miter lim="400000"/>
          </a:ln>
        </p:spPr>
        <p:txBody>
          <a:bodyPr wrap="square" lIns="28574" rIns="28574">
            <a:spAutoFit/>
          </a:bodyPr>
          <a:lstStyle/>
          <a:p>
            <a:pPr lvl="4">
              <a:lnSpc>
                <a:spcPct val="120000"/>
              </a:lnSpc>
              <a:defRPr sz="3000">
                <a:solidFill>
                  <a:srgbClr val="DDDDDD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sz="1875" dirty="0" smtClean="0"/>
              <a:t>Name </a:t>
            </a:r>
            <a:r>
              <a:rPr sz="1875" dirty="0"/>
              <a:t>:                </a:t>
            </a:r>
            <a:r>
              <a:rPr lang="en-US" sz="1875" dirty="0" smtClean="0"/>
              <a:t>                          </a:t>
            </a:r>
            <a:r>
              <a:rPr sz="1875" dirty="0" smtClean="0"/>
              <a:t>ID </a:t>
            </a:r>
            <a:r>
              <a:rPr sz="1875" dirty="0"/>
              <a:t>:</a:t>
            </a:r>
          </a:p>
          <a:p>
            <a:pPr>
              <a:lnSpc>
                <a:spcPct val="120000"/>
              </a:lnSpc>
              <a:defRPr sz="3000">
                <a:solidFill>
                  <a:srgbClr val="DDDDDD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lang="en-US" sz="1875" dirty="0" smtClean="0"/>
              <a:t>                                 </a:t>
            </a:r>
            <a:r>
              <a:rPr sz="1875" dirty="0" smtClean="0"/>
              <a:t>————           </a:t>
            </a:r>
            <a:r>
              <a:rPr lang="en-US" sz="1875" dirty="0" smtClean="0"/>
              <a:t>          </a:t>
            </a:r>
            <a:r>
              <a:rPr sz="1875" dirty="0" smtClean="0"/>
              <a:t>  </a:t>
            </a:r>
            <a:r>
              <a:rPr lang="en-US" sz="1875" dirty="0" smtClean="0"/>
              <a:t>               </a:t>
            </a:r>
            <a:r>
              <a:rPr sz="1875" dirty="0" smtClean="0"/>
              <a:t>———-</a:t>
            </a:r>
            <a:endParaRPr sz="1875" dirty="0"/>
          </a:p>
          <a:p>
            <a:pPr>
              <a:lnSpc>
                <a:spcPct val="120000"/>
              </a:lnSpc>
              <a:defRPr sz="3000">
                <a:solidFill>
                  <a:srgbClr val="DDDDDD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lang="en-US" sz="1875" dirty="0" smtClean="0"/>
              <a:t>                    </a:t>
            </a:r>
            <a:r>
              <a:rPr sz="2200" dirty="0" smtClean="0">
                <a:latin typeface="Comic Sans MS" panose="030F0702030302020204" pitchFamily="66" charset="0"/>
              </a:rPr>
              <a:t>Md</a:t>
            </a:r>
            <a:r>
              <a:rPr sz="2200" dirty="0">
                <a:latin typeface="Comic Sans MS" panose="030F0702030302020204" pitchFamily="66" charset="0"/>
              </a:rPr>
              <a:t>. </a:t>
            </a:r>
            <a:r>
              <a:rPr sz="2200" dirty="0" err="1">
                <a:latin typeface="Comic Sans MS" panose="030F0702030302020204" pitchFamily="66" charset="0"/>
              </a:rPr>
              <a:t>Mehedi</a:t>
            </a:r>
            <a:r>
              <a:rPr sz="2200" dirty="0">
                <a:latin typeface="Comic Sans MS" panose="030F0702030302020204" pitchFamily="66" charset="0"/>
              </a:rPr>
              <a:t> </a:t>
            </a:r>
            <a:r>
              <a:rPr sz="2200" dirty="0" err="1">
                <a:latin typeface="Comic Sans MS" panose="030F0702030302020204" pitchFamily="66" charset="0"/>
              </a:rPr>
              <a:t>Hasan</a:t>
            </a:r>
            <a:r>
              <a:rPr sz="2200" dirty="0">
                <a:latin typeface="Comic Sans MS" panose="030F0702030302020204" pitchFamily="66" charset="0"/>
              </a:rPr>
              <a:t> </a:t>
            </a:r>
            <a:r>
              <a:rPr lang="en-US" sz="2200" dirty="0" smtClean="0">
                <a:latin typeface="Comic Sans MS" panose="030F0702030302020204" pitchFamily="66" charset="0"/>
              </a:rPr>
              <a:t>            </a:t>
            </a:r>
            <a:r>
              <a:rPr sz="2200" dirty="0" smtClean="0">
                <a:latin typeface="Comic Sans MS" panose="030F0702030302020204" pitchFamily="66" charset="0"/>
              </a:rPr>
              <a:t>0242220005101432</a:t>
            </a:r>
            <a:endParaRPr lang="en-US" sz="2200" dirty="0" smtClean="0">
              <a:latin typeface="Comic Sans MS" panose="030F0702030302020204" pitchFamily="66" charset="0"/>
            </a:endParaRPr>
          </a:p>
          <a:p>
            <a:pPr>
              <a:lnSpc>
                <a:spcPct val="120000"/>
              </a:lnSpc>
              <a:defRPr sz="3000">
                <a:solidFill>
                  <a:srgbClr val="DDDDDD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lang="en-US" sz="2200" dirty="0" smtClean="0">
                <a:sym typeface="Georgia"/>
              </a:rPr>
              <a:t>                     </a:t>
            </a: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Sumaiya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Akter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</a:rPr>
              <a:t>                    0242310005101149</a:t>
            </a:r>
          </a:p>
          <a:p>
            <a:pPr>
              <a:lnSpc>
                <a:spcPct val="120000"/>
              </a:lnSpc>
              <a:defRPr sz="3000">
                <a:solidFill>
                  <a:srgbClr val="DDDDDD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lang="en-US" sz="1200" dirty="0" smtClean="0">
                <a:sym typeface="Georgia"/>
              </a:rPr>
              <a:t>                            </a:t>
            </a:r>
            <a:r>
              <a:rPr lang="en-US" sz="2200" dirty="0" err="1" smtClean="0">
                <a:sym typeface="Georgia"/>
              </a:rPr>
              <a:t>Forhad</a:t>
            </a:r>
            <a:r>
              <a:rPr lang="en-US" sz="2200" dirty="0" smtClean="0">
                <a:sym typeface="Georgia"/>
              </a:rPr>
              <a:t> </a:t>
            </a:r>
            <a:r>
              <a:rPr lang="en-US" sz="2200" dirty="0" err="1">
                <a:sym typeface="Georgia"/>
              </a:rPr>
              <a:t>Alam</a:t>
            </a:r>
            <a:r>
              <a:rPr lang="en-US" sz="2200" dirty="0">
                <a:sym typeface="Georgia"/>
              </a:rPr>
              <a:t> </a:t>
            </a:r>
            <a:r>
              <a:rPr lang="en-US" sz="2200" dirty="0" err="1">
                <a:sym typeface="Georgia"/>
              </a:rPr>
              <a:t>Sourav</a:t>
            </a:r>
            <a:r>
              <a:rPr lang="en-US" sz="2200" dirty="0">
                <a:sym typeface="Georgia"/>
              </a:rPr>
              <a:t> </a:t>
            </a:r>
            <a:r>
              <a:rPr lang="en-US" sz="2200" dirty="0" smtClean="0">
                <a:sym typeface="Georgia"/>
              </a:rPr>
              <a:t>               0242310005101853</a:t>
            </a:r>
          </a:p>
          <a:p>
            <a:pPr>
              <a:lnSpc>
                <a:spcPct val="120000"/>
              </a:lnSpc>
              <a:defRPr sz="3000">
                <a:solidFill>
                  <a:srgbClr val="DDDDDD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 lang="en-US" sz="1200" dirty="0" smtClean="0">
                <a:sym typeface="Georgia"/>
              </a:rPr>
              <a:t>                       </a:t>
            </a:r>
            <a:r>
              <a:rPr lang="en-US" sz="2200" dirty="0" smtClean="0">
                <a:sym typeface="Georgia"/>
              </a:rPr>
              <a:t>Abdullah </a:t>
            </a:r>
            <a:r>
              <a:rPr lang="en-US" sz="2200" dirty="0">
                <a:sym typeface="Georgia"/>
              </a:rPr>
              <a:t>Bin </a:t>
            </a:r>
            <a:r>
              <a:rPr lang="en-US" sz="2200" dirty="0" err="1">
                <a:sym typeface="Georgia"/>
              </a:rPr>
              <a:t>Arif</a:t>
            </a:r>
            <a:r>
              <a:rPr lang="en-US" sz="2200" dirty="0">
                <a:sym typeface="Georgia"/>
              </a:rPr>
              <a:t> </a:t>
            </a:r>
            <a:r>
              <a:rPr lang="en-US" sz="2200" dirty="0" err="1" smtClean="0">
                <a:sym typeface="Georgia"/>
              </a:rPr>
              <a:t>Apon</a:t>
            </a:r>
            <a:r>
              <a:rPr lang="en-US" sz="2200" dirty="0" smtClean="0">
                <a:sym typeface="Georgia"/>
              </a:rPr>
              <a:t>              0242310005101850</a:t>
            </a: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5062168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Comic Sans MS" panose="030F0702030302020204" pitchFamily="66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8275" y="1453733"/>
            <a:ext cx="3537284" cy="5257800"/>
          </a:xfrm>
        </p:spPr>
        <p:txBody>
          <a:bodyPr>
            <a:noAutofit/>
          </a:bodyPr>
          <a:lstStyle/>
          <a:p>
            <a:r>
              <a:rPr sz="2400" dirty="0" smtClean="0">
                <a:latin typeface="Comic Sans MS" panose="030F0702030302020204" pitchFamily="66" charset="0"/>
              </a:rPr>
              <a:t>CPU </a:t>
            </a:r>
            <a:r>
              <a:rPr sz="2400" dirty="0">
                <a:latin typeface="Comic Sans MS" panose="030F0702030302020204" pitchFamily="66" charset="0"/>
              </a:rPr>
              <a:t>scheduling manages process execution order.</a:t>
            </a:r>
          </a:p>
          <a:p>
            <a:r>
              <a:rPr sz="2400" dirty="0" smtClean="0">
                <a:latin typeface="Comic Sans MS" panose="030F0702030302020204" pitchFamily="66" charset="0"/>
              </a:rPr>
              <a:t> </a:t>
            </a:r>
            <a:r>
              <a:rPr sz="2400" dirty="0">
                <a:latin typeface="Comic Sans MS" panose="030F0702030302020204" pitchFamily="66" charset="0"/>
              </a:rPr>
              <a:t>Simulator demonstrates effects on waiting time &amp; execution.</a:t>
            </a:r>
          </a:p>
          <a:p>
            <a:r>
              <a:rPr sz="2400" dirty="0" smtClean="0">
                <a:latin typeface="Comic Sans MS" panose="030F0702030302020204" pitchFamily="66" charset="0"/>
              </a:rPr>
              <a:t> </a:t>
            </a:r>
            <a:r>
              <a:rPr sz="2400" dirty="0">
                <a:latin typeface="Comic Sans MS" panose="030F0702030302020204" pitchFamily="66" charset="0"/>
              </a:rPr>
              <a:t>Algorithms implemented: FCFS, SJF, RR, Priority.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32" y="1660275"/>
            <a:ext cx="5197644" cy="44397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307" y="1374543"/>
            <a:ext cx="6401693" cy="475048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9739" y="2010848"/>
            <a:ext cx="2502568" cy="34778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The </a:t>
            </a:r>
            <a:r>
              <a:rPr lang="en-US" sz="2000" b="1" dirty="0">
                <a:latin typeface="Comic Sans MS" panose="030F0702030302020204" pitchFamily="66" charset="0"/>
              </a:rPr>
              <a:t>First-Come, First-Served (FCFS)</a:t>
            </a:r>
            <a:r>
              <a:rPr lang="en-US" sz="2000" dirty="0">
                <a:latin typeface="Comic Sans MS" panose="030F0702030302020204" pitchFamily="66" charset="0"/>
              </a:rPr>
              <a:t> scheduling process is a simple, non-preemptive algorithm that executes processes in the exact order they arrive in the ready queue</a:t>
            </a:r>
            <a:r>
              <a:rPr lang="en-US" sz="2000" dirty="0">
                <a:solidFill>
                  <a:srgbClr val="E6E8F0"/>
                </a:solidFill>
                <a:latin typeface="Comic Sans MS" panose="030F0702030302020204" pitchFamily="66" charset="0"/>
              </a:rPr>
              <a:t>. 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54326" y="296325"/>
            <a:ext cx="3225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>
                <a:latin typeface="Comic Sans MS" panose="030F0702030302020204" pitchFamily="66" charset="0"/>
              </a:rPr>
              <a:t> </a:t>
            </a:r>
            <a:endParaRPr lang="en-US" sz="36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57881"/>
            <a:ext cx="9144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anose="030F0702030302020204" pitchFamily="66" charset="0"/>
              </a:rPr>
              <a:t>First-Come, First-Served (FCFS)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238649"/>
            <a:ext cx="9144000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FCFS implementation</a:t>
            </a:r>
            <a:endParaRPr lang="en-U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601" y="1323256"/>
            <a:ext cx="2627085" cy="57861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void </a:t>
            </a:r>
            <a:r>
              <a:rPr lang="en-US" sz="1300" dirty="0" err="1"/>
              <a:t>fcfs</a:t>
            </a:r>
            <a:r>
              <a:rPr lang="en-US" sz="1300" dirty="0"/>
              <a:t>() {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int</a:t>
            </a:r>
            <a:r>
              <a:rPr lang="en-US" sz="1300" dirty="0"/>
              <a:t> n;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printf</a:t>
            </a:r>
            <a:r>
              <a:rPr lang="en-US" sz="1300" dirty="0"/>
              <a:t>("Number of processes: ");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scanf</a:t>
            </a:r>
            <a:r>
              <a:rPr lang="en-US" sz="1300" dirty="0"/>
              <a:t>("%d", &amp;n);</a:t>
            </a:r>
          </a:p>
          <a:p>
            <a:endParaRPr lang="en-US" sz="1300" dirty="0"/>
          </a:p>
          <a:p>
            <a:r>
              <a:rPr lang="en-US" sz="1300" dirty="0"/>
              <a:t>    </a:t>
            </a:r>
            <a:r>
              <a:rPr lang="en-US" sz="1300" dirty="0" err="1"/>
              <a:t>int</a:t>
            </a:r>
            <a:r>
              <a:rPr lang="en-US" sz="1300" dirty="0"/>
              <a:t> arrival[n], burst[n], start[n], finish[n], wait[n], </a:t>
            </a:r>
            <a:r>
              <a:rPr lang="en-US" sz="1300" dirty="0" err="1"/>
              <a:t>seq</a:t>
            </a:r>
            <a:r>
              <a:rPr lang="en-US" sz="1300" dirty="0"/>
              <a:t>[n];</a:t>
            </a:r>
          </a:p>
          <a:p>
            <a:endParaRPr lang="en-US" sz="1300" dirty="0"/>
          </a:p>
          <a:p>
            <a:r>
              <a:rPr lang="en-US" sz="1300" dirty="0"/>
              <a:t>    for(</a:t>
            </a:r>
            <a:r>
              <a:rPr lang="en-US" sz="1300" dirty="0" err="1"/>
              <a:t>int</a:t>
            </a:r>
            <a:r>
              <a:rPr lang="en-US" sz="1300" dirty="0"/>
              <a:t> </a:t>
            </a:r>
            <a:r>
              <a:rPr lang="en-US" sz="1300" dirty="0" err="1"/>
              <a:t>i</a:t>
            </a:r>
            <a:r>
              <a:rPr lang="en-US" sz="1300" dirty="0"/>
              <a:t>=0;i&lt;</a:t>
            </a:r>
            <a:r>
              <a:rPr lang="en-US" sz="1300" dirty="0" err="1"/>
              <a:t>n;i</a:t>
            </a:r>
            <a:r>
              <a:rPr lang="en-US" sz="1300" dirty="0"/>
              <a:t>++){</a:t>
            </a:r>
          </a:p>
          <a:p>
            <a:r>
              <a:rPr lang="en-US" sz="1300" dirty="0"/>
              <a:t>        </a:t>
            </a:r>
            <a:r>
              <a:rPr lang="en-US" sz="1300" dirty="0" err="1"/>
              <a:t>seq</a:t>
            </a:r>
            <a:r>
              <a:rPr lang="en-US" sz="1300" dirty="0"/>
              <a:t>[</a:t>
            </a:r>
            <a:r>
              <a:rPr lang="en-US" sz="1300" dirty="0" err="1"/>
              <a:t>i</a:t>
            </a:r>
            <a:r>
              <a:rPr lang="en-US" sz="1300" dirty="0"/>
              <a:t>] = i+1;</a:t>
            </a:r>
          </a:p>
          <a:p>
            <a:r>
              <a:rPr lang="en-US" sz="1300" dirty="0"/>
              <a:t>        </a:t>
            </a:r>
            <a:r>
              <a:rPr lang="en-US" sz="1300" dirty="0" err="1"/>
              <a:t>printf</a:t>
            </a:r>
            <a:r>
              <a:rPr lang="en-US" sz="1300" dirty="0"/>
              <a:t>("Enter arrival time for </a:t>
            </a:r>
            <a:r>
              <a:rPr lang="en-US" sz="1300" dirty="0" err="1"/>
              <a:t>P%d</a:t>
            </a:r>
            <a:r>
              <a:rPr lang="en-US" sz="1300" dirty="0"/>
              <a:t>: ", i+1);</a:t>
            </a:r>
          </a:p>
          <a:p>
            <a:r>
              <a:rPr lang="en-US" sz="1300" dirty="0"/>
              <a:t>        </a:t>
            </a:r>
            <a:r>
              <a:rPr lang="en-US" sz="1300" dirty="0" err="1"/>
              <a:t>scanf</a:t>
            </a:r>
            <a:r>
              <a:rPr lang="en-US" sz="1300" dirty="0"/>
              <a:t>("%d", &amp;arrival[</a:t>
            </a:r>
            <a:r>
              <a:rPr lang="en-US" sz="1300" dirty="0" err="1"/>
              <a:t>i</a:t>
            </a:r>
            <a:r>
              <a:rPr lang="en-US" sz="1300" dirty="0"/>
              <a:t>]);</a:t>
            </a:r>
          </a:p>
          <a:p>
            <a:r>
              <a:rPr lang="en-US" sz="1300" dirty="0"/>
              <a:t>        </a:t>
            </a:r>
            <a:r>
              <a:rPr lang="en-US" sz="1300" dirty="0" err="1"/>
              <a:t>printf</a:t>
            </a:r>
            <a:r>
              <a:rPr lang="en-US" sz="1300" dirty="0"/>
              <a:t>("Enter burst time for </a:t>
            </a:r>
            <a:r>
              <a:rPr lang="en-US" sz="1300" dirty="0" err="1"/>
              <a:t>P%d</a:t>
            </a:r>
            <a:r>
              <a:rPr lang="en-US" sz="1300" dirty="0"/>
              <a:t>: ", i+1);</a:t>
            </a:r>
          </a:p>
          <a:p>
            <a:r>
              <a:rPr lang="en-US" sz="1300" dirty="0"/>
              <a:t>        </a:t>
            </a:r>
            <a:r>
              <a:rPr lang="en-US" sz="1300" dirty="0" err="1"/>
              <a:t>scanf</a:t>
            </a:r>
            <a:r>
              <a:rPr lang="en-US" sz="1300" dirty="0"/>
              <a:t>("%d", &amp;burst[</a:t>
            </a:r>
            <a:r>
              <a:rPr lang="en-US" sz="1300" dirty="0" err="1"/>
              <a:t>i</a:t>
            </a:r>
            <a:r>
              <a:rPr lang="en-US" sz="1300" dirty="0"/>
              <a:t>]);</a:t>
            </a:r>
          </a:p>
          <a:p>
            <a:r>
              <a:rPr lang="en-US" sz="1300" dirty="0"/>
              <a:t>    </a:t>
            </a:r>
            <a:r>
              <a:rPr lang="en-US" sz="1300" dirty="0" smtClean="0"/>
              <a:t>}</a:t>
            </a:r>
          </a:p>
          <a:p>
            <a:r>
              <a:rPr lang="en-US" sz="1200" dirty="0"/>
              <a:t> </a:t>
            </a:r>
            <a:r>
              <a:rPr lang="en-US" sz="1200" dirty="0" err="1"/>
              <a:t>int</a:t>
            </a:r>
            <a:r>
              <a:rPr lang="en-US" sz="1200" dirty="0"/>
              <a:t> t = 0;</a:t>
            </a:r>
          </a:p>
          <a:p>
            <a:r>
              <a:rPr lang="en-US" sz="1200" dirty="0"/>
              <a:t>    for(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=0;i&lt;</a:t>
            </a:r>
            <a:r>
              <a:rPr lang="en-US" sz="1200" dirty="0" err="1"/>
              <a:t>n;i</a:t>
            </a:r>
            <a:r>
              <a:rPr lang="en-US" sz="1200" dirty="0"/>
              <a:t>++){</a:t>
            </a:r>
          </a:p>
          <a:p>
            <a:r>
              <a:rPr lang="en-US" sz="1200" dirty="0"/>
              <a:t>        if(t &lt; arrival[</a:t>
            </a:r>
            <a:r>
              <a:rPr lang="en-US" sz="1200" dirty="0" err="1"/>
              <a:t>i</a:t>
            </a:r>
            <a:r>
              <a:rPr lang="en-US" sz="1200" dirty="0"/>
              <a:t>]) t = arrival[</a:t>
            </a:r>
            <a:r>
              <a:rPr lang="en-US" sz="1200" dirty="0" err="1"/>
              <a:t>i</a:t>
            </a:r>
            <a:r>
              <a:rPr lang="en-US" sz="1200" dirty="0"/>
              <a:t>];</a:t>
            </a:r>
          </a:p>
          <a:p>
            <a:r>
              <a:rPr lang="en-US" sz="1200" dirty="0"/>
              <a:t>        start[</a:t>
            </a:r>
            <a:r>
              <a:rPr lang="en-US" sz="1200" dirty="0" err="1"/>
              <a:t>i</a:t>
            </a:r>
            <a:r>
              <a:rPr lang="en-US" sz="1200" dirty="0"/>
              <a:t>] = t;</a:t>
            </a:r>
          </a:p>
          <a:p>
            <a:r>
              <a:rPr lang="en-US" sz="1200" dirty="0"/>
              <a:t>        t += burst[</a:t>
            </a:r>
            <a:r>
              <a:rPr lang="en-US" sz="1200" dirty="0" err="1"/>
              <a:t>i</a:t>
            </a:r>
            <a:r>
              <a:rPr lang="en-US" sz="1200" dirty="0"/>
              <a:t>];</a:t>
            </a:r>
          </a:p>
          <a:p>
            <a:r>
              <a:rPr lang="en-US" sz="1200" dirty="0"/>
              <a:t>        finish[</a:t>
            </a:r>
            <a:r>
              <a:rPr lang="en-US" sz="1200" dirty="0" err="1"/>
              <a:t>i</a:t>
            </a:r>
            <a:r>
              <a:rPr lang="en-US" sz="1200" dirty="0"/>
              <a:t>] = t;</a:t>
            </a:r>
          </a:p>
          <a:p>
            <a:r>
              <a:rPr lang="en-US" sz="1200" dirty="0"/>
              <a:t>        wait[</a:t>
            </a:r>
            <a:r>
              <a:rPr lang="en-US" sz="1200" dirty="0" err="1"/>
              <a:t>i</a:t>
            </a:r>
            <a:r>
              <a:rPr lang="en-US" sz="1200" dirty="0"/>
              <a:t>] = start[</a:t>
            </a:r>
            <a:r>
              <a:rPr lang="en-US" sz="1200" dirty="0" err="1"/>
              <a:t>i</a:t>
            </a:r>
            <a:r>
              <a:rPr lang="en-US" sz="1200" dirty="0"/>
              <a:t>] - arrival[</a:t>
            </a:r>
            <a:r>
              <a:rPr lang="en-US" sz="1200" dirty="0" err="1"/>
              <a:t>i</a:t>
            </a:r>
            <a:r>
              <a:rPr lang="en-US" sz="1200" dirty="0"/>
              <a:t>];</a:t>
            </a:r>
          </a:p>
          <a:p>
            <a:r>
              <a:rPr lang="en-US" sz="1200" dirty="0"/>
              <a:t>    </a:t>
            </a:r>
            <a:r>
              <a:rPr lang="en-US" sz="1200" dirty="0" smtClean="0"/>
              <a:t>} </a:t>
            </a:r>
            <a:r>
              <a:rPr lang="en-US" sz="1200" dirty="0"/>
              <a:t>}</a:t>
            </a:r>
          </a:p>
          <a:p>
            <a:endParaRPr lang="en-US" sz="1200" dirty="0"/>
          </a:p>
          <a:p>
            <a:endParaRPr lang="en-US" sz="1300" dirty="0"/>
          </a:p>
          <a:p>
            <a:endParaRPr lang="en-US" sz="1300" dirty="0"/>
          </a:p>
          <a:p>
            <a:r>
              <a:rPr lang="en-US" sz="1300" dirty="0"/>
              <a:t>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8686" y="2226640"/>
            <a:ext cx="2256970" cy="370870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r>
              <a:rPr lang="en-US" sz="1300" dirty="0" smtClean="0"/>
              <a:t>float </a:t>
            </a:r>
            <a:r>
              <a:rPr lang="en-US" sz="1300" dirty="0" err="1"/>
              <a:t>avg</a:t>
            </a:r>
            <a:r>
              <a:rPr lang="en-US" sz="1300" dirty="0"/>
              <a:t> = 0;</a:t>
            </a:r>
          </a:p>
          <a:p>
            <a:r>
              <a:rPr lang="en-US" sz="1300" dirty="0"/>
              <a:t>    for(</a:t>
            </a:r>
            <a:r>
              <a:rPr lang="en-US" sz="1300" dirty="0" err="1"/>
              <a:t>int</a:t>
            </a:r>
            <a:r>
              <a:rPr lang="en-US" sz="1300" dirty="0"/>
              <a:t> </a:t>
            </a:r>
            <a:r>
              <a:rPr lang="en-US" sz="1300" dirty="0" err="1"/>
              <a:t>i</a:t>
            </a:r>
            <a:r>
              <a:rPr lang="en-US" sz="1300" dirty="0"/>
              <a:t>=0;i&lt;</a:t>
            </a:r>
            <a:r>
              <a:rPr lang="en-US" sz="1300" dirty="0" err="1"/>
              <a:t>n;i</a:t>
            </a:r>
            <a:r>
              <a:rPr lang="en-US" sz="1300" dirty="0"/>
              <a:t>++) </a:t>
            </a:r>
            <a:r>
              <a:rPr lang="en-US" sz="1300" dirty="0" err="1"/>
              <a:t>avg</a:t>
            </a:r>
            <a:r>
              <a:rPr lang="en-US" sz="1300" dirty="0"/>
              <a:t> += wait[</a:t>
            </a:r>
            <a:r>
              <a:rPr lang="en-US" sz="1300" dirty="0" err="1"/>
              <a:t>i</a:t>
            </a:r>
            <a:r>
              <a:rPr lang="en-US" sz="1300" dirty="0"/>
              <a:t>];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avg</a:t>
            </a:r>
            <a:r>
              <a:rPr lang="en-US" sz="1300" dirty="0"/>
              <a:t> /= n;</a:t>
            </a:r>
          </a:p>
          <a:p>
            <a:endParaRPr lang="en-US" sz="1300" dirty="0"/>
          </a:p>
          <a:p>
            <a:r>
              <a:rPr lang="en-US" sz="1300" dirty="0"/>
              <a:t>    </a:t>
            </a:r>
            <a:r>
              <a:rPr lang="en-US" sz="1300" dirty="0" err="1"/>
              <a:t>printf</a:t>
            </a:r>
            <a:r>
              <a:rPr lang="en-US" sz="1300" dirty="0"/>
              <a:t>("\</a:t>
            </a:r>
            <a:r>
              <a:rPr lang="en-US" sz="1300" dirty="0" err="1"/>
              <a:t>nFCFS</a:t>
            </a:r>
            <a:r>
              <a:rPr lang="en-US" sz="1300" dirty="0"/>
              <a:t> Result:\n");</a:t>
            </a:r>
          </a:p>
          <a:p>
            <a:r>
              <a:rPr lang="en-US" sz="1300" dirty="0"/>
              <a:t>    for(</a:t>
            </a:r>
            <a:r>
              <a:rPr lang="en-US" sz="1300" dirty="0" err="1"/>
              <a:t>int</a:t>
            </a:r>
            <a:r>
              <a:rPr lang="en-US" sz="1300" dirty="0"/>
              <a:t> </a:t>
            </a:r>
            <a:r>
              <a:rPr lang="en-US" sz="1300" dirty="0" err="1"/>
              <a:t>i</a:t>
            </a:r>
            <a:r>
              <a:rPr lang="en-US" sz="1300" dirty="0"/>
              <a:t>=0;i&lt;</a:t>
            </a:r>
            <a:r>
              <a:rPr lang="en-US" sz="1300" dirty="0" err="1"/>
              <a:t>n;i</a:t>
            </a:r>
            <a:r>
              <a:rPr lang="en-US" sz="1300" dirty="0"/>
              <a:t>++){</a:t>
            </a:r>
          </a:p>
          <a:p>
            <a:r>
              <a:rPr lang="en-US" sz="1300" dirty="0"/>
              <a:t>        </a:t>
            </a:r>
            <a:r>
              <a:rPr lang="en-US" sz="1300" dirty="0" err="1"/>
              <a:t>printf</a:t>
            </a:r>
            <a:r>
              <a:rPr lang="en-US" sz="1300" dirty="0"/>
              <a:t>("</a:t>
            </a:r>
            <a:r>
              <a:rPr lang="en-US" sz="1300" dirty="0" err="1"/>
              <a:t>P%d</a:t>
            </a:r>
            <a:r>
              <a:rPr lang="en-US" sz="1300" dirty="0"/>
              <a:t> Arrival=%d Burst=%d Wait=%d\n", </a:t>
            </a:r>
            <a:r>
              <a:rPr lang="en-US" sz="1300" dirty="0" err="1"/>
              <a:t>seq</a:t>
            </a:r>
            <a:r>
              <a:rPr lang="en-US" sz="1300" dirty="0"/>
              <a:t>[</a:t>
            </a:r>
            <a:r>
              <a:rPr lang="en-US" sz="1300" dirty="0" err="1"/>
              <a:t>i</a:t>
            </a:r>
            <a:r>
              <a:rPr lang="en-US" sz="1300" dirty="0"/>
              <a:t>], arrival[</a:t>
            </a:r>
            <a:r>
              <a:rPr lang="en-US" sz="1300" dirty="0" err="1"/>
              <a:t>i</a:t>
            </a:r>
            <a:r>
              <a:rPr lang="en-US" sz="1300" dirty="0"/>
              <a:t>], burst[</a:t>
            </a:r>
            <a:r>
              <a:rPr lang="en-US" sz="1300" dirty="0" err="1"/>
              <a:t>i</a:t>
            </a:r>
            <a:r>
              <a:rPr lang="en-US" sz="1300" dirty="0"/>
              <a:t>], wait[</a:t>
            </a:r>
            <a:r>
              <a:rPr lang="en-US" sz="1300" dirty="0" err="1"/>
              <a:t>i</a:t>
            </a:r>
            <a:r>
              <a:rPr lang="en-US" sz="1300" dirty="0"/>
              <a:t>]);</a:t>
            </a:r>
          </a:p>
          <a:p>
            <a:r>
              <a:rPr lang="en-US" sz="1300" dirty="0"/>
              <a:t>    }</a:t>
            </a:r>
          </a:p>
          <a:p>
            <a:endParaRPr lang="en-US" sz="1300" dirty="0"/>
          </a:p>
          <a:p>
            <a:r>
              <a:rPr lang="en-US" sz="1300" dirty="0"/>
              <a:t>    </a:t>
            </a:r>
            <a:r>
              <a:rPr lang="en-US" sz="1300" dirty="0" err="1"/>
              <a:t>printf</a:t>
            </a:r>
            <a:r>
              <a:rPr lang="en-US" sz="1300" dirty="0"/>
              <a:t>("Sequence: ");</a:t>
            </a:r>
          </a:p>
          <a:p>
            <a:r>
              <a:rPr lang="en-US" sz="1300" dirty="0"/>
              <a:t>    for(</a:t>
            </a:r>
            <a:r>
              <a:rPr lang="en-US" sz="1300" dirty="0" err="1"/>
              <a:t>int</a:t>
            </a:r>
            <a:r>
              <a:rPr lang="en-US" sz="1300" dirty="0"/>
              <a:t> </a:t>
            </a:r>
            <a:r>
              <a:rPr lang="en-US" sz="1300" dirty="0" err="1"/>
              <a:t>i</a:t>
            </a:r>
            <a:r>
              <a:rPr lang="en-US" sz="1300" dirty="0"/>
              <a:t>=0;i&lt;</a:t>
            </a:r>
            <a:r>
              <a:rPr lang="en-US" sz="1300" dirty="0" err="1"/>
              <a:t>n;i</a:t>
            </a:r>
            <a:r>
              <a:rPr lang="en-US" sz="1300" dirty="0"/>
              <a:t>++) </a:t>
            </a:r>
            <a:r>
              <a:rPr lang="en-US" sz="1300" dirty="0" err="1"/>
              <a:t>printf</a:t>
            </a:r>
            <a:r>
              <a:rPr lang="en-US" sz="1300" dirty="0"/>
              <a:t>("</a:t>
            </a:r>
            <a:r>
              <a:rPr lang="en-US" sz="1300" dirty="0" err="1"/>
              <a:t>P%d</a:t>
            </a:r>
            <a:r>
              <a:rPr lang="en-US" sz="1300" dirty="0"/>
              <a:t> ", </a:t>
            </a:r>
            <a:r>
              <a:rPr lang="en-US" sz="1300" dirty="0" err="1"/>
              <a:t>seq</a:t>
            </a:r>
            <a:r>
              <a:rPr lang="en-US" sz="1300" dirty="0"/>
              <a:t>[</a:t>
            </a:r>
            <a:r>
              <a:rPr lang="en-US" sz="1300" dirty="0" err="1"/>
              <a:t>i</a:t>
            </a:r>
            <a:r>
              <a:rPr lang="en-US" sz="1300" dirty="0"/>
              <a:t>]);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printf</a:t>
            </a:r>
            <a:r>
              <a:rPr lang="en-US" sz="1300" dirty="0"/>
              <a:t>("\</a:t>
            </a:r>
            <a:r>
              <a:rPr lang="en-US" sz="1300" dirty="0" err="1"/>
              <a:t>nAverage</a:t>
            </a:r>
            <a:r>
              <a:rPr lang="en-US" sz="1300" dirty="0"/>
              <a:t> Waiting Time=%.2f\n\n", </a:t>
            </a:r>
            <a:r>
              <a:rPr lang="en-US" sz="1300" dirty="0" err="1"/>
              <a:t>avg</a:t>
            </a:r>
            <a:r>
              <a:rPr lang="en-US" sz="1300" dirty="0"/>
              <a:t>);</a:t>
            </a:r>
            <a:endParaRPr lang="en-US" sz="13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257" y="1323256"/>
            <a:ext cx="4248743" cy="524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17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66078"/>
            <a:ext cx="9144000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Shortest Job First </a:t>
            </a:r>
            <a:r>
              <a:rPr lang="en-US" sz="54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(SJF</a:t>
            </a:r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)</a:t>
            </a:r>
            <a:endParaRPr lang="en-U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091542"/>
            <a:ext cx="3280230" cy="30469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Shortest job first (SJF) or shortest job next, is a </a:t>
            </a:r>
            <a:r>
              <a:rPr lang="en-US" sz="2400" dirty="0" smtClean="0">
                <a:latin typeface="Comic Sans MS" panose="030F0702030302020204" pitchFamily="66" charset="0"/>
              </a:rPr>
              <a:t>scheduling policy </a:t>
            </a:r>
            <a:r>
              <a:rPr lang="en-US" sz="2400" dirty="0">
                <a:latin typeface="Comic Sans MS" panose="030F0702030302020204" pitchFamily="66" charset="0"/>
              </a:rPr>
              <a:t>that selects the waiting process with the smallest execution time to execute next.</a:t>
            </a:r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225" y="2093065"/>
            <a:ext cx="6284686" cy="476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48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99032"/>
            <a:ext cx="9144000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SJF  </a:t>
            </a:r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implementation</a:t>
            </a:r>
            <a:endParaRPr lang="en-U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225689"/>
            <a:ext cx="2786743" cy="56323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void </a:t>
            </a:r>
            <a:r>
              <a:rPr lang="en-US" sz="1200" dirty="0" err="1"/>
              <a:t>sjf</a:t>
            </a:r>
            <a:r>
              <a:rPr lang="en-US" sz="1200" dirty="0"/>
              <a:t>() {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int</a:t>
            </a:r>
            <a:r>
              <a:rPr lang="en-US" sz="1200" dirty="0"/>
              <a:t> n;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printf</a:t>
            </a:r>
            <a:r>
              <a:rPr lang="en-US" sz="1200" dirty="0"/>
              <a:t>("Number of processes: ");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scanf</a:t>
            </a:r>
            <a:r>
              <a:rPr lang="en-US" sz="1200" dirty="0"/>
              <a:t>("%d", &amp;n);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int</a:t>
            </a:r>
            <a:r>
              <a:rPr lang="en-US" sz="1200" dirty="0"/>
              <a:t> arrival[n], burst[n], done[n], wait[n], </a:t>
            </a:r>
            <a:r>
              <a:rPr lang="en-US" sz="1200" dirty="0" err="1"/>
              <a:t>seq</a:t>
            </a:r>
            <a:r>
              <a:rPr lang="en-US" sz="1200" dirty="0"/>
              <a:t>[n];</a:t>
            </a:r>
          </a:p>
          <a:p>
            <a:endParaRPr lang="en-US" sz="1200" dirty="0"/>
          </a:p>
          <a:p>
            <a:r>
              <a:rPr lang="en-US" sz="1200" dirty="0"/>
              <a:t>    for(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=0;i&lt;</a:t>
            </a:r>
            <a:r>
              <a:rPr lang="en-US" sz="1200" dirty="0" err="1"/>
              <a:t>n;i</a:t>
            </a:r>
            <a:r>
              <a:rPr lang="en-US" sz="1200" dirty="0"/>
              <a:t>++){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printf</a:t>
            </a:r>
            <a:r>
              <a:rPr lang="en-US" sz="1200" dirty="0"/>
              <a:t>("Enter arrival time for </a:t>
            </a:r>
            <a:r>
              <a:rPr lang="en-US" sz="1200" dirty="0" err="1"/>
              <a:t>P%d</a:t>
            </a:r>
            <a:r>
              <a:rPr lang="en-US" sz="1200" dirty="0"/>
              <a:t>: ", i+1);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scanf</a:t>
            </a:r>
            <a:r>
              <a:rPr lang="en-US" sz="1200" dirty="0"/>
              <a:t>("%d", &amp;arrival[</a:t>
            </a:r>
            <a:r>
              <a:rPr lang="en-US" sz="1200" dirty="0" err="1"/>
              <a:t>i</a:t>
            </a:r>
            <a:r>
              <a:rPr lang="en-US" sz="1200" dirty="0"/>
              <a:t>]);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printf</a:t>
            </a:r>
            <a:r>
              <a:rPr lang="en-US" sz="1200" dirty="0"/>
              <a:t>("Enter burst time for </a:t>
            </a:r>
            <a:r>
              <a:rPr lang="en-US" sz="1200" dirty="0" err="1"/>
              <a:t>P%d</a:t>
            </a:r>
            <a:r>
              <a:rPr lang="en-US" sz="1200" dirty="0"/>
              <a:t>: ", i+1);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scanf</a:t>
            </a:r>
            <a:r>
              <a:rPr lang="en-US" sz="1200" dirty="0"/>
              <a:t>("%d", &amp;burst[</a:t>
            </a:r>
            <a:r>
              <a:rPr lang="en-US" sz="1200" dirty="0" err="1"/>
              <a:t>i</a:t>
            </a:r>
            <a:r>
              <a:rPr lang="en-US" sz="1200" dirty="0"/>
              <a:t>]);</a:t>
            </a:r>
          </a:p>
          <a:p>
            <a:r>
              <a:rPr lang="en-US" sz="1200" dirty="0"/>
              <a:t>        done[</a:t>
            </a:r>
            <a:r>
              <a:rPr lang="en-US" sz="1200" dirty="0" err="1"/>
              <a:t>i</a:t>
            </a:r>
            <a:r>
              <a:rPr lang="en-US" sz="1200" dirty="0"/>
              <a:t>] = 0;</a:t>
            </a:r>
          </a:p>
          <a:p>
            <a:r>
              <a:rPr lang="en-US" sz="1200" dirty="0"/>
              <a:t>    }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int</a:t>
            </a:r>
            <a:r>
              <a:rPr lang="en-US" sz="1200" dirty="0"/>
              <a:t> t = 0, completed = 0, s = 0;</a:t>
            </a:r>
          </a:p>
          <a:p>
            <a:endParaRPr lang="en-US" sz="1200" dirty="0"/>
          </a:p>
          <a:p>
            <a:r>
              <a:rPr lang="en-US" sz="1200" dirty="0"/>
              <a:t>    while(completed &lt; n){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idx</a:t>
            </a:r>
            <a:r>
              <a:rPr lang="en-US" sz="1200" dirty="0"/>
              <a:t> = -1, best = 999999;</a:t>
            </a:r>
          </a:p>
          <a:p>
            <a:r>
              <a:rPr lang="en-US" sz="1200" dirty="0"/>
              <a:t>        for(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=0;i&lt;</a:t>
            </a:r>
            <a:r>
              <a:rPr lang="en-US" sz="1200" dirty="0" err="1"/>
              <a:t>n;i</a:t>
            </a:r>
            <a:r>
              <a:rPr lang="en-US" sz="1200" dirty="0"/>
              <a:t>++){</a:t>
            </a:r>
          </a:p>
          <a:p>
            <a:r>
              <a:rPr lang="en-US" sz="1200" dirty="0"/>
              <a:t>            if(!done[</a:t>
            </a:r>
            <a:r>
              <a:rPr lang="en-US" sz="1200" dirty="0" err="1"/>
              <a:t>i</a:t>
            </a:r>
            <a:r>
              <a:rPr lang="en-US" sz="1200" dirty="0"/>
              <a:t>] &amp;&amp; arrival[</a:t>
            </a:r>
            <a:r>
              <a:rPr lang="en-US" sz="1200" dirty="0" err="1"/>
              <a:t>i</a:t>
            </a:r>
            <a:r>
              <a:rPr lang="en-US" sz="1200" dirty="0"/>
              <a:t>] &lt;= t){</a:t>
            </a:r>
          </a:p>
          <a:p>
            <a:r>
              <a:rPr lang="en-US" sz="1200" dirty="0"/>
              <a:t>                if(burst[</a:t>
            </a:r>
            <a:r>
              <a:rPr lang="en-US" sz="1200" dirty="0" err="1"/>
              <a:t>i</a:t>
            </a:r>
            <a:r>
              <a:rPr lang="en-US" sz="1200" dirty="0"/>
              <a:t>] &lt; best){</a:t>
            </a:r>
          </a:p>
          <a:p>
            <a:r>
              <a:rPr lang="en-US" sz="1200" dirty="0"/>
              <a:t>                    best = burst[</a:t>
            </a:r>
            <a:r>
              <a:rPr lang="en-US" sz="1200" dirty="0" err="1"/>
              <a:t>i</a:t>
            </a:r>
            <a:r>
              <a:rPr lang="en-US" sz="1200" dirty="0"/>
              <a:t>];</a:t>
            </a:r>
          </a:p>
          <a:p>
            <a:r>
              <a:rPr lang="en-US" sz="1200" dirty="0"/>
              <a:t>                    </a:t>
            </a:r>
            <a:r>
              <a:rPr lang="en-US" sz="1200" dirty="0" err="1"/>
              <a:t>idx</a:t>
            </a:r>
            <a:r>
              <a:rPr lang="en-US" sz="1200" dirty="0"/>
              <a:t> = </a:t>
            </a:r>
            <a:r>
              <a:rPr lang="en-US" sz="1200" dirty="0" err="1"/>
              <a:t>i</a:t>
            </a:r>
            <a:r>
              <a:rPr lang="en-US" sz="1200" dirty="0"/>
              <a:t>;</a:t>
            </a:r>
          </a:p>
          <a:p>
            <a:r>
              <a:rPr lang="en-US" sz="1200" dirty="0"/>
              <a:t>                }</a:t>
            </a:r>
          </a:p>
          <a:p>
            <a:r>
              <a:rPr lang="en-US" sz="1200" dirty="0"/>
              <a:t>            }</a:t>
            </a:r>
          </a:p>
          <a:p>
            <a:r>
              <a:rPr lang="en-US" sz="1200" dirty="0"/>
              <a:t>        </a:t>
            </a:r>
            <a:r>
              <a:rPr lang="en-US" sz="1200" dirty="0" smtClean="0"/>
              <a:t>}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2786743" y="1399361"/>
            <a:ext cx="2677886" cy="48936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 if(</a:t>
            </a:r>
            <a:r>
              <a:rPr lang="en-US" sz="1200" dirty="0" err="1"/>
              <a:t>idx</a:t>
            </a:r>
            <a:r>
              <a:rPr lang="en-US" sz="1200" dirty="0"/>
              <a:t> == -1){ t++; continue; }</a:t>
            </a:r>
          </a:p>
          <a:p>
            <a:endParaRPr lang="en-US" sz="1200" dirty="0"/>
          </a:p>
          <a:p>
            <a:r>
              <a:rPr lang="en-US" sz="1200" dirty="0"/>
              <a:t>        </a:t>
            </a:r>
            <a:r>
              <a:rPr lang="en-US" sz="1200" dirty="0" err="1"/>
              <a:t>seq</a:t>
            </a:r>
            <a:r>
              <a:rPr lang="en-US" sz="1200" dirty="0"/>
              <a:t>[s++] = idx+1;</a:t>
            </a:r>
          </a:p>
          <a:p>
            <a:r>
              <a:rPr lang="en-US" sz="1200" dirty="0"/>
              <a:t>        wait[</a:t>
            </a:r>
            <a:r>
              <a:rPr lang="en-US" sz="1200" dirty="0" err="1"/>
              <a:t>idx</a:t>
            </a:r>
            <a:r>
              <a:rPr lang="en-US" sz="1200" dirty="0"/>
              <a:t>] = t - arrival[</a:t>
            </a:r>
            <a:r>
              <a:rPr lang="en-US" sz="1200" dirty="0" err="1"/>
              <a:t>idx</a:t>
            </a:r>
            <a:r>
              <a:rPr lang="en-US" sz="1200" dirty="0"/>
              <a:t>];</a:t>
            </a:r>
          </a:p>
          <a:p>
            <a:r>
              <a:rPr lang="en-US" sz="1200" dirty="0"/>
              <a:t>        t += burst[</a:t>
            </a:r>
            <a:r>
              <a:rPr lang="en-US" sz="1200" dirty="0" err="1"/>
              <a:t>idx</a:t>
            </a:r>
            <a:r>
              <a:rPr lang="en-US" sz="1200" dirty="0"/>
              <a:t>];</a:t>
            </a:r>
          </a:p>
          <a:p>
            <a:r>
              <a:rPr lang="en-US" sz="1200" dirty="0"/>
              <a:t>        done[</a:t>
            </a:r>
            <a:r>
              <a:rPr lang="en-US" sz="1200" dirty="0" err="1"/>
              <a:t>idx</a:t>
            </a:r>
            <a:r>
              <a:rPr lang="en-US" sz="1200" dirty="0"/>
              <a:t>] = 1;</a:t>
            </a:r>
          </a:p>
          <a:p>
            <a:r>
              <a:rPr lang="en-US" sz="1200" dirty="0"/>
              <a:t>        completed++;</a:t>
            </a:r>
          </a:p>
          <a:p>
            <a:r>
              <a:rPr lang="en-US" sz="1200" dirty="0"/>
              <a:t>    }</a:t>
            </a:r>
          </a:p>
          <a:p>
            <a:endParaRPr lang="en-US" sz="1200" dirty="0"/>
          </a:p>
          <a:p>
            <a:r>
              <a:rPr lang="en-US" sz="1200" dirty="0"/>
              <a:t>    float </a:t>
            </a:r>
            <a:r>
              <a:rPr lang="en-US" sz="1200" dirty="0" err="1"/>
              <a:t>avg</a:t>
            </a:r>
            <a:r>
              <a:rPr lang="en-US" sz="1200" dirty="0"/>
              <a:t> = 0;</a:t>
            </a:r>
          </a:p>
          <a:p>
            <a:r>
              <a:rPr lang="en-US" sz="1200" dirty="0"/>
              <a:t>    for(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=0;i&lt;</a:t>
            </a:r>
            <a:r>
              <a:rPr lang="en-US" sz="1200" dirty="0" err="1"/>
              <a:t>n;i</a:t>
            </a:r>
            <a:r>
              <a:rPr lang="en-US" sz="1200" dirty="0"/>
              <a:t>++) </a:t>
            </a:r>
            <a:r>
              <a:rPr lang="en-US" sz="1200" dirty="0" err="1"/>
              <a:t>avg</a:t>
            </a:r>
            <a:r>
              <a:rPr lang="en-US" sz="1200" dirty="0"/>
              <a:t> += wait[</a:t>
            </a:r>
            <a:r>
              <a:rPr lang="en-US" sz="1200" dirty="0" err="1"/>
              <a:t>i</a:t>
            </a:r>
            <a:r>
              <a:rPr lang="en-US" sz="1200" dirty="0"/>
              <a:t>];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avg</a:t>
            </a:r>
            <a:r>
              <a:rPr lang="en-US" sz="1200" dirty="0"/>
              <a:t> /= n;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printf</a:t>
            </a:r>
            <a:r>
              <a:rPr lang="en-US" sz="1200" dirty="0"/>
              <a:t>("\</a:t>
            </a:r>
            <a:r>
              <a:rPr lang="en-US" sz="1200" dirty="0" err="1"/>
              <a:t>nSJF</a:t>
            </a:r>
            <a:r>
              <a:rPr lang="en-US" sz="1200" dirty="0"/>
              <a:t> Result:\n");</a:t>
            </a:r>
          </a:p>
          <a:p>
            <a:r>
              <a:rPr lang="en-US" sz="1200" dirty="0"/>
              <a:t>    for(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=0;i&lt;</a:t>
            </a:r>
            <a:r>
              <a:rPr lang="en-US" sz="1200" dirty="0" err="1"/>
              <a:t>n;i</a:t>
            </a:r>
            <a:r>
              <a:rPr lang="en-US" sz="1200" dirty="0"/>
              <a:t>++){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printf</a:t>
            </a:r>
            <a:r>
              <a:rPr lang="en-US" sz="1200" dirty="0"/>
              <a:t>("</a:t>
            </a:r>
            <a:r>
              <a:rPr lang="en-US" sz="1200" dirty="0" err="1"/>
              <a:t>P%d</a:t>
            </a:r>
            <a:r>
              <a:rPr lang="en-US" sz="1200" dirty="0"/>
              <a:t> Arrival=%d Burst=%d Wait=%d\n", i+1, arrival[</a:t>
            </a:r>
            <a:r>
              <a:rPr lang="en-US" sz="1200" dirty="0" err="1"/>
              <a:t>i</a:t>
            </a:r>
            <a:r>
              <a:rPr lang="en-US" sz="1200" dirty="0"/>
              <a:t>], burst[</a:t>
            </a:r>
            <a:r>
              <a:rPr lang="en-US" sz="1200" dirty="0" err="1"/>
              <a:t>i</a:t>
            </a:r>
            <a:r>
              <a:rPr lang="en-US" sz="1200" dirty="0"/>
              <a:t>], wait[</a:t>
            </a:r>
            <a:r>
              <a:rPr lang="en-US" sz="1200" dirty="0" err="1"/>
              <a:t>i</a:t>
            </a:r>
            <a:r>
              <a:rPr lang="en-US" sz="1200" dirty="0"/>
              <a:t>]);</a:t>
            </a:r>
          </a:p>
          <a:p>
            <a:r>
              <a:rPr lang="en-US" sz="1200" dirty="0"/>
              <a:t>    }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printf</a:t>
            </a:r>
            <a:r>
              <a:rPr lang="en-US" sz="1200" dirty="0"/>
              <a:t>("Sequence: ");</a:t>
            </a:r>
          </a:p>
          <a:p>
            <a:r>
              <a:rPr lang="en-US" sz="1200" dirty="0"/>
              <a:t>    for(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=0;i&lt;</a:t>
            </a:r>
            <a:r>
              <a:rPr lang="en-US" sz="1200" dirty="0" err="1"/>
              <a:t>s;i</a:t>
            </a:r>
            <a:r>
              <a:rPr lang="en-US" sz="1200" dirty="0"/>
              <a:t>++) </a:t>
            </a:r>
            <a:r>
              <a:rPr lang="en-US" sz="1200" dirty="0" err="1"/>
              <a:t>printf</a:t>
            </a:r>
            <a:r>
              <a:rPr lang="en-US" sz="1200" dirty="0"/>
              <a:t>("</a:t>
            </a:r>
            <a:r>
              <a:rPr lang="en-US" sz="1200" dirty="0" err="1"/>
              <a:t>P%d</a:t>
            </a:r>
            <a:r>
              <a:rPr lang="en-US" sz="1200" dirty="0"/>
              <a:t> ", </a:t>
            </a:r>
            <a:r>
              <a:rPr lang="en-US" sz="1200" dirty="0" err="1"/>
              <a:t>seq</a:t>
            </a:r>
            <a:r>
              <a:rPr lang="en-US" sz="1200" dirty="0"/>
              <a:t>[</a:t>
            </a:r>
            <a:r>
              <a:rPr lang="en-US" sz="1200" dirty="0" err="1"/>
              <a:t>i</a:t>
            </a:r>
            <a:r>
              <a:rPr lang="en-US" sz="1200" dirty="0"/>
              <a:t>]);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printf</a:t>
            </a:r>
            <a:r>
              <a:rPr lang="en-US" sz="1200" dirty="0"/>
              <a:t>("\</a:t>
            </a:r>
            <a:r>
              <a:rPr lang="en-US" sz="1200" dirty="0" err="1"/>
              <a:t>nAverage</a:t>
            </a:r>
            <a:r>
              <a:rPr lang="en-US" sz="1200" dirty="0"/>
              <a:t> Waiting Time=%.2f\n\n", </a:t>
            </a:r>
            <a:r>
              <a:rPr lang="en-US" sz="1200" dirty="0" err="1"/>
              <a:t>avg</a:t>
            </a:r>
            <a:r>
              <a:rPr lang="en-US" sz="1200" dirty="0"/>
              <a:t>);</a:t>
            </a:r>
          </a:p>
          <a:p>
            <a:r>
              <a:rPr lang="en-US" sz="1200" dirty="0"/>
              <a:t>}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100" y="1399361"/>
            <a:ext cx="3762900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0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1564"/>
            <a:ext cx="9143999" cy="92333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Round Robin Scheduling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3206207"/>
            <a:ext cx="2206172" cy="3170099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Round robin scheduling is a preemptive CPU scheduling algorithm that allocates a fixed time slice, or "quantum," to each process in a circular queue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257" y="1777546"/>
            <a:ext cx="6738197" cy="492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388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7678"/>
            <a:ext cx="9143999" cy="92333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Round Robin </a:t>
            </a:r>
            <a:r>
              <a:rPr lang="en-US" sz="5400" dirty="0">
                <a:solidFill>
                  <a:schemeClr val="tx1"/>
                </a:solidFill>
              </a:rPr>
              <a:t>implementation</a:t>
            </a:r>
            <a:endParaRPr lang="en-US" sz="54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364343"/>
            <a:ext cx="2728686" cy="56323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void </a:t>
            </a:r>
            <a:r>
              <a:rPr lang="en-US" sz="1200" dirty="0" err="1"/>
              <a:t>rr</a:t>
            </a:r>
            <a:r>
              <a:rPr lang="en-US" sz="1200" dirty="0"/>
              <a:t>() {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int</a:t>
            </a:r>
            <a:r>
              <a:rPr lang="en-US" sz="1200" dirty="0"/>
              <a:t> n, q;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printf</a:t>
            </a:r>
            <a:r>
              <a:rPr lang="en-US" sz="1200" dirty="0"/>
              <a:t>("Number of processes: ");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scanf</a:t>
            </a:r>
            <a:r>
              <a:rPr lang="en-US" sz="1200" dirty="0"/>
              <a:t>("%d", &amp;n);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int</a:t>
            </a:r>
            <a:r>
              <a:rPr lang="en-US" sz="1200" dirty="0"/>
              <a:t> arrival[n], burst[n], rem[n], finish[n], wait[n];</a:t>
            </a:r>
          </a:p>
          <a:p>
            <a:endParaRPr lang="en-US" sz="1200" dirty="0"/>
          </a:p>
          <a:p>
            <a:r>
              <a:rPr lang="en-US" sz="1200" dirty="0"/>
              <a:t>    for(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=0;i&lt;</a:t>
            </a:r>
            <a:r>
              <a:rPr lang="en-US" sz="1200" dirty="0" err="1"/>
              <a:t>n;i</a:t>
            </a:r>
            <a:r>
              <a:rPr lang="en-US" sz="1200" dirty="0"/>
              <a:t>++){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printf</a:t>
            </a:r>
            <a:r>
              <a:rPr lang="en-US" sz="1200" dirty="0"/>
              <a:t>("Enter arrival time for </a:t>
            </a:r>
            <a:r>
              <a:rPr lang="en-US" sz="1200" dirty="0" err="1"/>
              <a:t>P%d</a:t>
            </a:r>
            <a:r>
              <a:rPr lang="en-US" sz="1200" dirty="0"/>
              <a:t>: ", i+1);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scanf</a:t>
            </a:r>
            <a:r>
              <a:rPr lang="en-US" sz="1200" dirty="0"/>
              <a:t>("%d", &amp;arrival[</a:t>
            </a:r>
            <a:r>
              <a:rPr lang="en-US" sz="1200" dirty="0" err="1"/>
              <a:t>i</a:t>
            </a:r>
            <a:r>
              <a:rPr lang="en-US" sz="1200" dirty="0"/>
              <a:t>]);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printf</a:t>
            </a:r>
            <a:r>
              <a:rPr lang="en-US" sz="1200" dirty="0"/>
              <a:t>("Enter burst time for </a:t>
            </a:r>
            <a:r>
              <a:rPr lang="en-US" sz="1200" dirty="0" err="1"/>
              <a:t>P%d</a:t>
            </a:r>
            <a:r>
              <a:rPr lang="en-US" sz="1200" dirty="0"/>
              <a:t>: ", i+1);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scanf</a:t>
            </a:r>
            <a:r>
              <a:rPr lang="en-US" sz="1200" dirty="0"/>
              <a:t>("%d", &amp;burst[</a:t>
            </a:r>
            <a:r>
              <a:rPr lang="en-US" sz="1200" dirty="0" err="1"/>
              <a:t>i</a:t>
            </a:r>
            <a:r>
              <a:rPr lang="en-US" sz="1200" dirty="0"/>
              <a:t>]);</a:t>
            </a:r>
          </a:p>
          <a:p>
            <a:r>
              <a:rPr lang="en-US" sz="1200" dirty="0"/>
              <a:t>        rem[</a:t>
            </a:r>
            <a:r>
              <a:rPr lang="en-US" sz="1200" dirty="0" err="1"/>
              <a:t>i</a:t>
            </a:r>
            <a:r>
              <a:rPr lang="en-US" sz="1200" dirty="0"/>
              <a:t>] = burst[</a:t>
            </a:r>
            <a:r>
              <a:rPr lang="en-US" sz="1200" dirty="0" err="1"/>
              <a:t>i</a:t>
            </a:r>
            <a:r>
              <a:rPr lang="en-US" sz="1200" dirty="0"/>
              <a:t>];</a:t>
            </a:r>
          </a:p>
          <a:p>
            <a:r>
              <a:rPr lang="en-US" sz="1200" dirty="0"/>
              <a:t>    }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printf</a:t>
            </a:r>
            <a:r>
              <a:rPr lang="en-US" sz="1200" dirty="0"/>
              <a:t>("Enter Quantum: ");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scanf</a:t>
            </a:r>
            <a:r>
              <a:rPr lang="en-US" sz="1200" dirty="0"/>
              <a:t>("%d", &amp;q);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int</a:t>
            </a:r>
            <a:r>
              <a:rPr lang="en-US" sz="1200" dirty="0"/>
              <a:t> t = 0, done = 0;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seq</a:t>
            </a:r>
            <a:r>
              <a:rPr lang="en-US" sz="1200" dirty="0"/>
              <a:t>[999], s = 0;</a:t>
            </a:r>
          </a:p>
          <a:p>
            <a:endParaRPr lang="en-US" sz="1200" dirty="0"/>
          </a:p>
          <a:p>
            <a:r>
              <a:rPr lang="en-US" sz="1200" dirty="0"/>
              <a:t>    while(done &lt; n){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int</a:t>
            </a:r>
            <a:r>
              <a:rPr lang="en-US" sz="1200" dirty="0"/>
              <a:t> used = 0;</a:t>
            </a:r>
          </a:p>
          <a:p>
            <a:endParaRPr lang="en-US" sz="1200" dirty="0"/>
          </a:p>
          <a:p>
            <a:r>
              <a:rPr lang="en-US" sz="1200" dirty="0"/>
              <a:t>        for(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=0;i&lt;</a:t>
            </a:r>
            <a:r>
              <a:rPr lang="en-US" sz="1200" dirty="0" err="1"/>
              <a:t>n;i</a:t>
            </a:r>
            <a:r>
              <a:rPr lang="en-US" sz="1200" dirty="0"/>
              <a:t>++){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2728686" y="1220037"/>
            <a:ext cx="3294743" cy="563231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 if(arrival[</a:t>
            </a:r>
            <a:r>
              <a:rPr lang="en-US" sz="1200" dirty="0" err="1"/>
              <a:t>i</a:t>
            </a:r>
            <a:r>
              <a:rPr lang="en-US" sz="1200" dirty="0"/>
              <a:t>] &lt;= t &amp;&amp; rem[</a:t>
            </a:r>
            <a:r>
              <a:rPr lang="en-US" sz="1200" dirty="0" err="1"/>
              <a:t>i</a:t>
            </a:r>
            <a:r>
              <a:rPr lang="en-US" sz="1200" dirty="0"/>
              <a:t>] &gt; 0){</a:t>
            </a:r>
          </a:p>
          <a:p>
            <a:r>
              <a:rPr lang="en-US" sz="1200" dirty="0"/>
              <a:t>                </a:t>
            </a:r>
            <a:r>
              <a:rPr lang="en-US" sz="1200" dirty="0" err="1"/>
              <a:t>int</a:t>
            </a:r>
            <a:r>
              <a:rPr lang="en-US" sz="1200" dirty="0"/>
              <a:t> run = rem[</a:t>
            </a:r>
            <a:r>
              <a:rPr lang="en-US" sz="1200" dirty="0" err="1"/>
              <a:t>i</a:t>
            </a:r>
            <a:r>
              <a:rPr lang="en-US" sz="1200" dirty="0"/>
              <a:t>] &lt; q ? rem[</a:t>
            </a:r>
            <a:r>
              <a:rPr lang="en-US" sz="1200" dirty="0" err="1"/>
              <a:t>i</a:t>
            </a:r>
            <a:r>
              <a:rPr lang="en-US" sz="1200" dirty="0"/>
              <a:t>] : q;</a:t>
            </a:r>
          </a:p>
          <a:p>
            <a:r>
              <a:rPr lang="en-US" sz="1200" dirty="0"/>
              <a:t>                rem[</a:t>
            </a:r>
            <a:r>
              <a:rPr lang="en-US" sz="1200" dirty="0" err="1"/>
              <a:t>i</a:t>
            </a:r>
            <a:r>
              <a:rPr lang="en-US" sz="1200" dirty="0"/>
              <a:t>] -= run;</a:t>
            </a:r>
          </a:p>
          <a:p>
            <a:endParaRPr lang="en-US" sz="1200" dirty="0"/>
          </a:p>
          <a:p>
            <a:r>
              <a:rPr lang="en-US" sz="1200" dirty="0"/>
              <a:t>                for(</a:t>
            </a:r>
            <a:r>
              <a:rPr lang="en-US" sz="1200" dirty="0" err="1"/>
              <a:t>int</a:t>
            </a:r>
            <a:r>
              <a:rPr lang="en-US" sz="1200" dirty="0"/>
              <a:t> k=0;k&lt;</a:t>
            </a:r>
            <a:r>
              <a:rPr lang="en-US" sz="1200" dirty="0" err="1"/>
              <a:t>run;k</a:t>
            </a:r>
            <a:r>
              <a:rPr lang="en-US" sz="1200" dirty="0"/>
              <a:t>++) </a:t>
            </a:r>
            <a:r>
              <a:rPr lang="en-US" sz="1200" dirty="0" err="1"/>
              <a:t>seq</a:t>
            </a:r>
            <a:r>
              <a:rPr lang="en-US" sz="1200" dirty="0"/>
              <a:t>[s++] = i+1;</a:t>
            </a:r>
          </a:p>
          <a:p>
            <a:endParaRPr lang="en-US" sz="1200" dirty="0"/>
          </a:p>
          <a:p>
            <a:r>
              <a:rPr lang="en-US" sz="1200" dirty="0"/>
              <a:t>                t += run;</a:t>
            </a:r>
          </a:p>
          <a:p>
            <a:r>
              <a:rPr lang="en-US" sz="1200" dirty="0"/>
              <a:t>                if(rem[</a:t>
            </a:r>
            <a:r>
              <a:rPr lang="en-US" sz="1200" dirty="0" err="1"/>
              <a:t>i</a:t>
            </a:r>
            <a:r>
              <a:rPr lang="en-US" sz="1200" dirty="0"/>
              <a:t>] == 0){</a:t>
            </a:r>
          </a:p>
          <a:p>
            <a:r>
              <a:rPr lang="en-US" sz="1200" dirty="0"/>
              <a:t>                    finish[</a:t>
            </a:r>
            <a:r>
              <a:rPr lang="en-US" sz="1200" dirty="0" err="1"/>
              <a:t>i</a:t>
            </a:r>
            <a:r>
              <a:rPr lang="en-US" sz="1200" dirty="0"/>
              <a:t>] = t;</a:t>
            </a:r>
          </a:p>
          <a:p>
            <a:r>
              <a:rPr lang="en-US" sz="1200" dirty="0"/>
              <a:t>                    done++;</a:t>
            </a:r>
          </a:p>
          <a:p>
            <a:r>
              <a:rPr lang="en-US" sz="1200" dirty="0"/>
              <a:t>                }</a:t>
            </a:r>
          </a:p>
          <a:p>
            <a:r>
              <a:rPr lang="en-US" sz="1200" dirty="0"/>
              <a:t>                used = 1;</a:t>
            </a:r>
          </a:p>
          <a:p>
            <a:r>
              <a:rPr lang="en-US" sz="1200" dirty="0"/>
              <a:t>            }</a:t>
            </a:r>
          </a:p>
          <a:p>
            <a:r>
              <a:rPr lang="en-US" sz="1200" dirty="0"/>
              <a:t>        }</a:t>
            </a:r>
          </a:p>
          <a:p>
            <a:r>
              <a:rPr lang="en-US" sz="1200" dirty="0"/>
              <a:t>        if(!used) t++;</a:t>
            </a:r>
          </a:p>
          <a:p>
            <a:r>
              <a:rPr lang="en-US" sz="1200" dirty="0"/>
              <a:t>    </a:t>
            </a:r>
            <a:r>
              <a:rPr lang="en-US" sz="1200" dirty="0" smtClean="0"/>
              <a:t>}</a:t>
            </a:r>
          </a:p>
          <a:p>
            <a:r>
              <a:rPr lang="en-US" sz="1200" dirty="0"/>
              <a:t>for(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=0;i&lt;</a:t>
            </a:r>
            <a:r>
              <a:rPr lang="en-US" sz="1200" dirty="0" err="1"/>
              <a:t>n;i</a:t>
            </a:r>
            <a:r>
              <a:rPr lang="en-US" sz="1200" dirty="0"/>
              <a:t>++){</a:t>
            </a:r>
          </a:p>
          <a:p>
            <a:r>
              <a:rPr lang="en-US" sz="1200" dirty="0"/>
              <a:t>        wait[</a:t>
            </a:r>
            <a:r>
              <a:rPr lang="en-US" sz="1200" dirty="0" err="1"/>
              <a:t>i</a:t>
            </a:r>
            <a:r>
              <a:rPr lang="en-US" sz="1200" dirty="0"/>
              <a:t>] = finish[</a:t>
            </a:r>
            <a:r>
              <a:rPr lang="en-US" sz="1200" dirty="0" err="1"/>
              <a:t>i</a:t>
            </a:r>
            <a:r>
              <a:rPr lang="en-US" sz="1200" dirty="0"/>
              <a:t>] - arrival[</a:t>
            </a:r>
            <a:r>
              <a:rPr lang="en-US" sz="1200" dirty="0" err="1"/>
              <a:t>i</a:t>
            </a:r>
            <a:r>
              <a:rPr lang="en-US" sz="1200" dirty="0"/>
              <a:t>] - burst[</a:t>
            </a:r>
            <a:r>
              <a:rPr lang="en-US" sz="1200" dirty="0" err="1"/>
              <a:t>i</a:t>
            </a:r>
            <a:r>
              <a:rPr lang="en-US" sz="1200" dirty="0"/>
              <a:t>];</a:t>
            </a:r>
          </a:p>
          <a:p>
            <a:r>
              <a:rPr lang="en-US" sz="1200" dirty="0"/>
              <a:t>    }</a:t>
            </a:r>
          </a:p>
          <a:p>
            <a:endParaRPr lang="en-US" sz="1200" dirty="0"/>
          </a:p>
          <a:p>
            <a:r>
              <a:rPr lang="en-US" sz="1200" dirty="0"/>
              <a:t>    float </a:t>
            </a:r>
            <a:r>
              <a:rPr lang="en-US" sz="1200" dirty="0" err="1"/>
              <a:t>avg</a:t>
            </a:r>
            <a:r>
              <a:rPr lang="en-US" sz="1200" dirty="0"/>
              <a:t> = 0;</a:t>
            </a:r>
          </a:p>
          <a:p>
            <a:r>
              <a:rPr lang="en-US" sz="1200" dirty="0"/>
              <a:t>    for(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=0;i&lt;</a:t>
            </a:r>
            <a:r>
              <a:rPr lang="en-US" sz="1200" dirty="0" err="1"/>
              <a:t>n;i</a:t>
            </a:r>
            <a:r>
              <a:rPr lang="en-US" sz="1200" dirty="0"/>
              <a:t>++) </a:t>
            </a:r>
            <a:r>
              <a:rPr lang="en-US" sz="1200" dirty="0" err="1"/>
              <a:t>avg</a:t>
            </a:r>
            <a:r>
              <a:rPr lang="en-US" sz="1200" dirty="0"/>
              <a:t> += wait[</a:t>
            </a:r>
            <a:r>
              <a:rPr lang="en-US" sz="1200" dirty="0" err="1"/>
              <a:t>i</a:t>
            </a:r>
            <a:r>
              <a:rPr lang="en-US" sz="1200" dirty="0"/>
              <a:t>];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avg</a:t>
            </a:r>
            <a:r>
              <a:rPr lang="en-US" sz="1200" dirty="0"/>
              <a:t> /= n;</a:t>
            </a:r>
          </a:p>
          <a:p>
            <a:endParaRPr lang="en-US" sz="1200" dirty="0"/>
          </a:p>
          <a:p>
            <a:r>
              <a:rPr lang="en-US" sz="1200" dirty="0"/>
              <a:t>    </a:t>
            </a:r>
            <a:r>
              <a:rPr lang="en-US" sz="1200" dirty="0" err="1"/>
              <a:t>printf</a:t>
            </a:r>
            <a:r>
              <a:rPr lang="en-US" sz="1200" dirty="0"/>
              <a:t>("\</a:t>
            </a:r>
            <a:r>
              <a:rPr lang="en-US" sz="1200" dirty="0" err="1"/>
              <a:t>nRound</a:t>
            </a:r>
            <a:r>
              <a:rPr lang="en-US" sz="1200" dirty="0"/>
              <a:t> Robin Result:\n");</a:t>
            </a:r>
          </a:p>
          <a:p>
            <a:r>
              <a:rPr lang="en-US" sz="1200" dirty="0"/>
              <a:t>    for(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=0;i&lt;</a:t>
            </a:r>
            <a:r>
              <a:rPr lang="en-US" sz="1200" dirty="0" err="1"/>
              <a:t>n;i</a:t>
            </a:r>
            <a:r>
              <a:rPr lang="en-US" sz="1200" dirty="0"/>
              <a:t>++){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printf</a:t>
            </a:r>
            <a:r>
              <a:rPr lang="en-US" sz="1200" dirty="0"/>
              <a:t>("</a:t>
            </a:r>
            <a:r>
              <a:rPr lang="en-US" sz="1200" dirty="0" err="1"/>
              <a:t>P%d</a:t>
            </a:r>
            <a:r>
              <a:rPr lang="en-US" sz="1200" dirty="0"/>
              <a:t> Arrival=%d Burst=%d Wait=%d\n", i+1, arrival[</a:t>
            </a:r>
            <a:r>
              <a:rPr lang="en-US" sz="1200" dirty="0" err="1"/>
              <a:t>i</a:t>
            </a:r>
            <a:r>
              <a:rPr lang="en-US" sz="1200" dirty="0"/>
              <a:t>], burst[</a:t>
            </a:r>
            <a:r>
              <a:rPr lang="en-US" sz="1200" dirty="0" err="1"/>
              <a:t>i</a:t>
            </a:r>
            <a:r>
              <a:rPr lang="en-US" sz="1200" dirty="0"/>
              <a:t>], wait[</a:t>
            </a:r>
            <a:r>
              <a:rPr lang="en-US" sz="1200" dirty="0" err="1"/>
              <a:t>i</a:t>
            </a:r>
            <a:r>
              <a:rPr lang="en-US" sz="1200" dirty="0"/>
              <a:t>]);</a:t>
            </a:r>
          </a:p>
          <a:p>
            <a:r>
              <a:rPr lang="en-US" sz="1200" dirty="0"/>
              <a:t>    }</a:t>
            </a:r>
          </a:p>
          <a:p>
            <a:endParaRPr 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6081486" y="1274084"/>
            <a:ext cx="2772228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printf</a:t>
            </a:r>
            <a:r>
              <a:rPr lang="en-US" sz="1200" dirty="0"/>
              <a:t>("Sequence: ");</a:t>
            </a:r>
          </a:p>
          <a:p>
            <a:r>
              <a:rPr lang="en-US" sz="1200" dirty="0"/>
              <a:t>    for(</a:t>
            </a:r>
            <a:r>
              <a:rPr lang="en-US" sz="1200" dirty="0" err="1"/>
              <a:t>int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=0;i&lt;</a:t>
            </a:r>
            <a:r>
              <a:rPr lang="en-US" sz="1200" dirty="0" err="1"/>
              <a:t>s;i</a:t>
            </a:r>
            <a:r>
              <a:rPr lang="en-US" sz="1200" dirty="0"/>
              <a:t>++) </a:t>
            </a:r>
            <a:r>
              <a:rPr lang="en-US" sz="1200" dirty="0" err="1"/>
              <a:t>printf</a:t>
            </a:r>
            <a:r>
              <a:rPr lang="en-US" sz="1200" dirty="0"/>
              <a:t>("</a:t>
            </a:r>
            <a:r>
              <a:rPr lang="en-US" sz="1200" dirty="0" err="1"/>
              <a:t>P%d</a:t>
            </a:r>
            <a:r>
              <a:rPr lang="en-US" sz="1200" dirty="0"/>
              <a:t> ", </a:t>
            </a:r>
            <a:r>
              <a:rPr lang="en-US" sz="1200" dirty="0" err="1"/>
              <a:t>seq</a:t>
            </a:r>
            <a:r>
              <a:rPr lang="en-US" sz="1200" dirty="0"/>
              <a:t>[</a:t>
            </a:r>
            <a:r>
              <a:rPr lang="en-US" sz="1200" dirty="0" err="1"/>
              <a:t>i</a:t>
            </a:r>
            <a:r>
              <a:rPr lang="en-US" sz="1200" dirty="0"/>
              <a:t>]);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printf</a:t>
            </a:r>
            <a:r>
              <a:rPr lang="en-US" sz="1200" dirty="0"/>
              <a:t>("\</a:t>
            </a:r>
            <a:r>
              <a:rPr lang="en-US" sz="1200" dirty="0" err="1"/>
              <a:t>nAverage</a:t>
            </a:r>
            <a:r>
              <a:rPr lang="en-US" sz="1200" dirty="0"/>
              <a:t> Waiting Time=%.2f\n\n", </a:t>
            </a:r>
            <a:r>
              <a:rPr lang="en-US" sz="1200" dirty="0" err="1"/>
              <a:t>avg</a:t>
            </a:r>
            <a:r>
              <a:rPr lang="en-US" sz="1200" dirty="0"/>
              <a:t>);</a:t>
            </a:r>
          </a:p>
          <a:p>
            <a:r>
              <a:rPr lang="en-US" sz="1200" dirty="0"/>
              <a:t>}</a:t>
            </a:r>
          </a:p>
          <a:p>
            <a:endParaRPr lang="en-US" sz="1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829" y="2434045"/>
            <a:ext cx="2989942" cy="422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91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858" y="1566094"/>
            <a:ext cx="2503714" cy="489364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Priority scheduling is an operating system process that selects and executes processes based on their priority level, with higher-priority processes running first.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8021"/>
            <a:ext cx="9144000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atin typeface="Google Sans"/>
              </a:rPr>
              <a:t>Priority scheduling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131" y="1566094"/>
            <a:ext cx="5227411" cy="465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75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8021"/>
            <a:ext cx="9144000" cy="76944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dirty="0">
                <a:latin typeface="Google Sans"/>
              </a:rPr>
              <a:t>Priority S</a:t>
            </a:r>
            <a:r>
              <a:rPr lang="en-US" sz="4400" dirty="0" smtClean="0">
                <a:latin typeface="Google Sans"/>
              </a:rPr>
              <a:t>cheduling implementation</a:t>
            </a:r>
            <a:endParaRPr 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44519"/>
            <a:ext cx="3389085" cy="61863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priority_sch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("Number of processes: ");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&amp;n);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arrival[n], burst[n], priority[n], done[n], wait[n],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[n];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for(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=0;i&lt;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++){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arrival time for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P%d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", i+1);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&amp;arrival[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burst time for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P%d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", i+1);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&amp;burst[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priority for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P%d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", i+1);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&amp;priority[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done[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0;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 = 0, s = 0, completed = 0;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while(completed &lt; n){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-1, best = 999999;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for(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=0;i&lt;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++){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if(!done[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&amp;&amp; arrival[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&lt;= t){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if(priority[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&lt; best){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best = priority[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    }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}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}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</a:t>
            </a:r>
            <a:endParaRPr lang="en-US" sz="12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43943" y="1044519"/>
            <a:ext cx="2866571" cy="489364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if(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-1){ t++; continue; }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[s++] = idx+1;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wait[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t - arrival[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t += burst[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done[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1;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completed++;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float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for(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=0;i&lt;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wait[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/= n;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nPriority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Scheduling Result:\n");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for(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=0;i&lt;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++){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P%d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Arrival=%d Burst=%d Priority=%d Wait=%d\n", i+1, arrival[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burst[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priority[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wait[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("Sequence: ");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for(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=0;i&lt;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s;i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P%d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nAverage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Waiting Time=%.2f\n\n",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371" y="1070655"/>
            <a:ext cx="3178629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48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2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31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978</Words>
  <Application>Microsoft Office PowerPoint</Application>
  <PresentationFormat>On-screen Show (4:3)</PresentationFormat>
  <Paragraphs>216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Comic Sans MS</vt:lpstr>
      <vt:lpstr>Georgia</vt:lpstr>
      <vt:lpstr>Google Sans</vt:lpstr>
      <vt:lpstr>Times New Roman</vt:lpstr>
      <vt:lpstr>Office Theme</vt:lpstr>
      <vt:lpstr>PowerPoint Presentation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</dc:creator>
  <cp:keywords/>
  <dc:description>generated using python-pptx</dc:description>
  <cp:lastModifiedBy>PC</cp:lastModifiedBy>
  <cp:revision>10</cp:revision>
  <dcterms:created xsi:type="dcterms:W3CDTF">2013-01-27T09:14:16Z</dcterms:created>
  <dcterms:modified xsi:type="dcterms:W3CDTF">2025-12-04T20:25:10Z</dcterms:modified>
  <cp:category/>
</cp:coreProperties>
</file>